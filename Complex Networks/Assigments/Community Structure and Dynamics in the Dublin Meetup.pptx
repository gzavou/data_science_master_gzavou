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8"/>
  </p:notesMasterIdLst>
  <p:sldIdLst>
    <p:sldId id="256" r:id="rId2"/>
    <p:sldId id="260" r:id="rId3"/>
    <p:sldId id="261" r:id="rId4"/>
    <p:sldId id="265" r:id="rId5"/>
    <p:sldId id="262" r:id="rId6"/>
    <p:sldId id="264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A6B47-3CAB-46AA-91DF-606AB5B5102C}" type="datetimeFigureOut">
              <a:rPr lang="it-IT" smtClean="0"/>
              <a:t>29/05/2025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937CF-4DCF-4D5D-8F16-B4527DAFB6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8132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937CF-4DCF-4D5D-8F16-B4527DAFB658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5426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4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8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51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9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0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42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5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93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62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56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09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89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191375-0164-0F00-E45D-3F6F84440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>
                <a:cs typeface="Courier New" panose="02070309020205020404" pitchFamily="49" charset="0"/>
              </a:rPr>
              <a:t>Community Structure and Dynamics in the Dublin Meetup Network 2018</a:t>
            </a:r>
            <a:endParaRPr lang="it-IT" sz="4200" dirty="0">
              <a:cs typeface="Courier New" panose="02070309020205020404" pitchFamily="49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nquadratura dall'alto di una rappresentazione di reti con figure stilizzate.">
            <a:extLst>
              <a:ext uri="{FF2B5EF4-FFF2-40B4-BE49-F238E27FC236}">
                <a16:creationId xmlns:a16="http://schemas.microsoft.com/office/drawing/2014/main" id="{4845EE0D-E6D5-430F-CD4A-CB35D5B995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93" r="10560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35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15CBC80E-E425-6328-DCAB-376703CA5E0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35" y="1746526"/>
            <a:ext cx="6637844" cy="383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AA7172A7-7500-DDD1-D0DB-6FA916601A8E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2358" y="1461543"/>
            <a:ext cx="3920907" cy="3322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8FC0616-6445-9E3B-2112-7EF5A806CD17}"/>
              </a:ext>
            </a:extLst>
          </p:cNvPr>
          <p:cNvSpPr txBox="1"/>
          <p:nvPr/>
        </p:nvSpPr>
        <p:spPr>
          <a:xfrm>
            <a:off x="7796463" y="4784449"/>
            <a:ext cx="3751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it-IT" dirty="0">
                <a:latin typeface="+mj-lt"/>
              </a:rPr>
              <a:t>1481 </a:t>
            </a:r>
            <a:r>
              <a:rPr lang="it-IT" dirty="0" err="1">
                <a:latin typeface="+mj-lt"/>
              </a:rPr>
              <a:t>nodes</a:t>
            </a:r>
            <a:endParaRPr lang="it-IT" dirty="0"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it-IT" dirty="0">
                <a:latin typeface="+mj-lt"/>
              </a:rPr>
              <a:t>6756 </a:t>
            </a:r>
            <a:r>
              <a:rPr lang="it-IT" dirty="0" err="1">
                <a:latin typeface="+mj-lt"/>
              </a:rPr>
              <a:t>edges</a:t>
            </a:r>
            <a:endParaRPr lang="it-IT" dirty="0"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it-IT" dirty="0" err="1">
                <a:latin typeface="+mj-lt"/>
              </a:rPr>
              <a:t>Density</a:t>
            </a:r>
            <a:r>
              <a:rPr lang="it-IT" dirty="0">
                <a:latin typeface="+mj-lt"/>
              </a:rPr>
              <a:t> = 0.0062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CE5156A-1EFB-1FD9-78D5-9A85CD51D727}"/>
              </a:ext>
            </a:extLst>
          </p:cNvPr>
          <p:cNvSpPr txBox="1"/>
          <p:nvPr/>
        </p:nvSpPr>
        <p:spPr>
          <a:xfrm>
            <a:off x="830179" y="878305"/>
            <a:ext cx="8428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+mj-lt"/>
              </a:rPr>
              <a:t>NETWORK CHARACTERIZATION AND THRESHOLDING</a:t>
            </a:r>
          </a:p>
        </p:txBody>
      </p:sp>
    </p:spTree>
    <p:extLst>
      <p:ext uri="{BB962C8B-B14F-4D97-AF65-F5344CB8AC3E}">
        <p14:creationId xmlns:p14="http://schemas.microsoft.com/office/powerpoint/2010/main" val="2585079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2F7793BA-6CBD-2016-BC96-FD09EE20A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1"/>
            <a:ext cx="10789236" cy="139736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Do meaningful communities emerge in such a sparse network?</a:t>
            </a:r>
            <a:br>
              <a:rPr lang="it-IT" dirty="0"/>
            </a:br>
            <a:br>
              <a:rPr lang="it-IT" dirty="0"/>
            </a:br>
            <a:r>
              <a:rPr lang="it-IT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</a:t>
            </a:r>
            <a:r>
              <a:rPr lang="it-IT" sz="2000" dirty="0" err="1"/>
              <a:t>Louvain</a:t>
            </a:r>
            <a:r>
              <a:rPr lang="it-IT" sz="2000" dirty="0"/>
              <a:t> </a:t>
            </a:r>
            <a:r>
              <a:rPr lang="it-IT" sz="2000" dirty="0" err="1"/>
              <a:t>algorithm</a:t>
            </a:r>
            <a:br>
              <a:rPr lang="it-IT" sz="2000" dirty="0"/>
            </a:br>
            <a:br>
              <a:rPr lang="it-IT" sz="2000" dirty="0"/>
            </a:br>
            <a:r>
              <a:rPr lang="it-IT" sz="2000" dirty="0"/>
              <a:t>- </a:t>
            </a:r>
            <a:r>
              <a:rPr lang="en-US" sz="2000" b="1" dirty="0"/>
              <a:t>21 communities</a:t>
            </a:r>
            <a:r>
              <a:rPr lang="en-US" sz="2000" dirty="0"/>
              <a:t> (&gt;5 nodes) were detected.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- </a:t>
            </a:r>
            <a:r>
              <a:rPr lang="it-IT" sz="2000" dirty="0" err="1"/>
              <a:t>Modularity</a:t>
            </a:r>
            <a:r>
              <a:rPr lang="it-IT" sz="2000" dirty="0"/>
              <a:t> score: </a:t>
            </a:r>
            <a:r>
              <a:rPr lang="it-IT" sz="2000" b="1" dirty="0"/>
              <a:t>Q = 0.6789</a:t>
            </a:r>
            <a:br>
              <a:rPr lang="it-IT" sz="2000" b="1" dirty="0"/>
            </a:br>
            <a:br>
              <a:rPr lang="it-IT" sz="2000" b="1" dirty="0"/>
            </a:br>
            <a:r>
              <a:rPr lang="it-IT" sz="2000" dirty="0"/>
              <a:t>- </a:t>
            </a:r>
            <a:r>
              <a:rPr lang="it-IT" sz="2000" b="1" dirty="0"/>
              <a:t>SEMANTIC ANALYSIS </a:t>
            </a:r>
            <a:r>
              <a:rPr lang="it-IT" sz="2000" dirty="0"/>
              <a:t>USING TF-IDF technique 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604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3247E8B-B72C-9D63-90F1-79FFDEC0DD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954" y="1031967"/>
            <a:ext cx="7030076" cy="492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8DF645D-DC96-0E7F-569F-CD8734EDFD29}"/>
              </a:ext>
            </a:extLst>
          </p:cNvPr>
          <p:cNvSpPr txBox="1"/>
          <p:nvPr/>
        </p:nvSpPr>
        <p:spPr>
          <a:xfrm>
            <a:off x="7903030" y="1319349"/>
            <a:ext cx="34160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it-IT" b="1" dirty="0"/>
              <a:t>Community 0, 1, 32 </a:t>
            </a:r>
            <a:r>
              <a:rPr lang="it-IT" dirty="0"/>
              <a:t>- </a:t>
            </a:r>
            <a:r>
              <a:rPr lang="it-IT" dirty="0" err="1"/>
              <a:t>had</a:t>
            </a:r>
            <a:r>
              <a:rPr lang="it-IT" dirty="0"/>
              <a:t> the </a:t>
            </a:r>
            <a:r>
              <a:rPr lang="it-IT" dirty="0" err="1"/>
              <a:t>highest</a:t>
            </a:r>
            <a:r>
              <a:rPr lang="it-IT" dirty="0"/>
              <a:t> </a:t>
            </a:r>
            <a:r>
              <a:rPr lang="it-IT" dirty="0" err="1"/>
              <a:t>internal</a:t>
            </a:r>
            <a:r>
              <a:rPr lang="it-IT" dirty="0"/>
              <a:t> </a:t>
            </a:r>
            <a:r>
              <a:rPr lang="it-IT" dirty="0" err="1"/>
              <a:t>density</a:t>
            </a:r>
            <a:r>
              <a:rPr lang="it-IT" dirty="0"/>
              <a:t> (0.2016) and the </a:t>
            </a:r>
            <a:r>
              <a:rPr lang="it-IT" dirty="0" err="1"/>
              <a:t>lowest</a:t>
            </a:r>
            <a:r>
              <a:rPr lang="it-IT" dirty="0"/>
              <a:t> </a:t>
            </a:r>
            <a:r>
              <a:rPr lang="it-IT" dirty="0" err="1"/>
              <a:t>external</a:t>
            </a:r>
            <a:r>
              <a:rPr lang="it-IT" dirty="0"/>
              <a:t> </a:t>
            </a:r>
            <a:r>
              <a:rPr lang="it-IT" dirty="0" err="1"/>
              <a:t>connectivity</a:t>
            </a:r>
            <a:r>
              <a:rPr lang="it-IT" dirty="0"/>
              <a:t> (0.17)</a:t>
            </a:r>
          </a:p>
          <a:p>
            <a:pPr marL="285750" indent="-285750">
              <a:buFontTx/>
              <a:buChar char="-"/>
            </a:pPr>
            <a:endParaRPr lang="it-IT" dirty="0"/>
          </a:p>
          <a:p>
            <a:pPr marL="285750" indent="-285750">
              <a:buFontTx/>
              <a:buChar char="-"/>
            </a:pPr>
            <a:r>
              <a:rPr lang="it-IT" b="1" dirty="0"/>
              <a:t>Community 2 and 25 </a:t>
            </a:r>
            <a:r>
              <a:rPr lang="it-IT" dirty="0" err="1"/>
              <a:t>had</a:t>
            </a:r>
            <a:r>
              <a:rPr lang="it-IT" dirty="0"/>
              <a:t> the </a:t>
            </a:r>
            <a:r>
              <a:rPr lang="it-IT" dirty="0" err="1"/>
              <a:t>lowest</a:t>
            </a:r>
            <a:r>
              <a:rPr lang="it-IT" dirty="0"/>
              <a:t> </a:t>
            </a:r>
            <a:r>
              <a:rPr lang="it-IT" dirty="0" err="1"/>
              <a:t>density</a:t>
            </a:r>
            <a:r>
              <a:rPr lang="it-IT" dirty="0"/>
              <a:t> (0.0387) and the </a:t>
            </a:r>
            <a:r>
              <a:rPr lang="it-IT" dirty="0" err="1"/>
              <a:t>highest</a:t>
            </a:r>
            <a:r>
              <a:rPr lang="it-IT" dirty="0"/>
              <a:t> </a:t>
            </a:r>
            <a:r>
              <a:rPr lang="it-IT" dirty="0" err="1"/>
              <a:t>external</a:t>
            </a:r>
            <a:r>
              <a:rPr lang="it-IT" dirty="0"/>
              <a:t> </a:t>
            </a:r>
            <a:r>
              <a:rPr lang="it-IT" dirty="0" err="1"/>
              <a:t>connectivity</a:t>
            </a:r>
            <a:r>
              <a:rPr lang="it-IT" dirty="0"/>
              <a:t> (0.42)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34296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1DFB26-A861-7F06-C569-BA9A6BEAA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6" y="914400"/>
            <a:ext cx="3891462" cy="1818968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 there a systematic distinction between Tech and Non-Tech communities?</a:t>
            </a:r>
            <a:br>
              <a:rPr lang="it-I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it-IT" dirty="0"/>
            </a:br>
            <a:br>
              <a:rPr lang="it-IT" dirty="0"/>
            </a:br>
            <a:endParaRPr lang="it-IT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652A06ED-CC27-FCB7-DF81-8FF02E4D04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644" y="914400"/>
            <a:ext cx="6478256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334C5E4-10D1-CADF-09A9-B5FF84824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166335E-11A8-5E64-A81A-FB0E485A3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7071" y="4144298"/>
            <a:ext cx="11946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EE13A49-3E17-B043-B4E3-E422EFBE0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349" y="2594870"/>
            <a:ext cx="427200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network: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dirty="0">
                <a:latin typeface="Arial" panose="020B0604020202020204" pitchFamily="34" charset="0"/>
              </a:rPr>
              <a:t>-    More </a:t>
            </a:r>
            <a:r>
              <a:rPr lang="it-IT" altLang="it-IT" dirty="0" err="1">
                <a:latin typeface="Arial" panose="020B0604020202020204" pitchFamily="34" charset="0"/>
              </a:rPr>
              <a:t>active</a:t>
            </a:r>
            <a:r>
              <a:rPr lang="it-IT" altLang="it-IT" dirty="0">
                <a:latin typeface="Arial" panose="020B0604020202020204" pitchFamily="34" charset="0"/>
              </a:rPr>
              <a:t> and </a:t>
            </a:r>
            <a:r>
              <a:rPr lang="it-IT" altLang="it-IT" dirty="0" err="1">
                <a:latin typeface="Arial" panose="020B0604020202020204" pitchFamily="34" charset="0"/>
              </a:rPr>
              <a:t>interconnected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density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(0.0962), more high-degree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more hubs,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betweenness</a:t>
            </a:r>
            <a:r>
              <a:rPr lang="it-IT" altLang="it-IT" dirty="0">
                <a:latin typeface="Arial" panose="020B0604020202020204" pitchFamily="34" charset="0"/>
              </a:rPr>
              <a:t> </a:t>
            </a:r>
            <a:r>
              <a:rPr lang="it-IT" altLang="it-IT" dirty="0" err="1">
                <a:latin typeface="Arial" panose="020B0604020202020204" pitchFamily="34" charset="0"/>
              </a:rPr>
              <a:t>centrality</a:t>
            </a:r>
            <a:endParaRPr lang="it-IT" altLang="it-IT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Non-Tech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network: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dirty="0">
                <a:latin typeface="Arial" panose="020B0604020202020204" pitchFamily="34" charset="0"/>
              </a:rPr>
              <a:t>- More </a:t>
            </a:r>
            <a:r>
              <a:rPr lang="it-IT" altLang="it-IT" dirty="0" err="1">
                <a:latin typeface="Arial" panose="020B0604020202020204" pitchFamily="34" charset="0"/>
              </a:rPr>
              <a:t>closed</a:t>
            </a:r>
            <a:r>
              <a:rPr lang="it-IT" altLang="it-IT" dirty="0">
                <a:latin typeface="Arial" panose="020B0604020202020204" pitchFamily="34" charset="0"/>
              </a:rPr>
              <a:t> and </a:t>
            </a:r>
            <a:r>
              <a:rPr lang="it-IT" altLang="it-IT" dirty="0" err="1">
                <a:latin typeface="Arial" panose="020B0604020202020204" pitchFamily="34" charset="0"/>
              </a:rPr>
              <a:t>connected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Lower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density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(0.0506), more compact clusters.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clustering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coefficient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tighter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communities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192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996B1C-61BF-E77C-4389-5B1FDD29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Dynamic Overview: Long-Term Visibility of Communities</a:t>
            </a:r>
            <a:endParaRPr lang="it-IT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ECC20EF-A1B9-D52B-1FEB-48F34A786A8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88" y="2231923"/>
            <a:ext cx="3998542" cy="373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F3DFB985-0340-EB96-659B-34140F05188F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445" y="1557495"/>
            <a:ext cx="6366978" cy="4612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63844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178</Words>
  <Application>Microsoft Office PowerPoint</Application>
  <PresentationFormat>Widescreen</PresentationFormat>
  <Paragraphs>20</Paragraphs>
  <Slides>6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Calisto MT</vt:lpstr>
      <vt:lpstr>Courier New</vt:lpstr>
      <vt:lpstr>Univers Condensed</vt:lpstr>
      <vt:lpstr>ChronicleVTI</vt:lpstr>
      <vt:lpstr>Community Structure and Dynamics in the Dublin Meetup Network 2018</vt:lpstr>
      <vt:lpstr>Presentazione standard di PowerPoint</vt:lpstr>
      <vt:lpstr>Do meaningful communities emerge in such a sparse network?  - Louvain algorithm  - 21 communities (&gt;5 nodes) were detected.  - Modularity score: Q = 0.6789  - SEMANTIC ANALYSIS USING TF-IDF technique </vt:lpstr>
      <vt:lpstr>Presentazione standard di PowerPoint</vt:lpstr>
      <vt:lpstr>Is there a systematic distinction between Tech and Non-Tech communities?   </vt:lpstr>
      <vt:lpstr>Dynamic Overview: Long-Term Visibility of Communities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i.curzi@campus.unimib.it</dc:creator>
  <cp:lastModifiedBy>i.curzi@campus.unimib.it</cp:lastModifiedBy>
  <cp:revision>2</cp:revision>
  <dcterms:created xsi:type="dcterms:W3CDTF">2025-05-29T16:41:48Z</dcterms:created>
  <dcterms:modified xsi:type="dcterms:W3CDTF">2025-05-30T09:26:09Z</dcterms:modified>
</cp:coreProperties>
</file>